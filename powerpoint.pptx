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Bebas Neue"/>
      <p:regular r:id="rId14"/>
    </p:embeddedFont>
    <p:embeddedFont>
      <p:font typeface="Bebas Neue"/>
      <p:regular r:id="rId15"/>
    </p:embeddedFont>
    <p:embeddedFont>
      <p:font typeface="Bebas Neue"/>
      <p:regular r:id="rId16"/>
    </p:embeddedFont>
    <p:embeddedFont>
      <p:font typeface="Bebas Neue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POZA CU RGBEEP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9421" y="403175"/>
            <a:ext cx="4736157" cy="1808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 la asistent de parcare la platformă embedded interactivă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489421" y="2402160"/>
            <a:ext cx="4736157" cy="131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300"/>
              </a:lnSpc>
              <a:buNone/>
            </a:pPr>
            <a:r>
              <a:rPr lang="en-US" sz="8250" b="1" dirty="0">
                <a:solidFill>
                  <a:srgbClr val="F4444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</a:t>
            </a:r>
            <a:pPr algn="ctr" indent="0" marL="0">
              <a:lnSpc>
                <a:spcPts val="10300"/>
              </a:lnSpc>
              <a:buNone/>
            </a:pPr>
            <a:r>
              <a:rPr lang="en-US" sz="8250" b="1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</a:t>
            </a:r>
            <a:pPr algn="ctr" indent="0" marL="0">
              <a:lnSpc>
                <a:spcPts val="10300"/>
              </a:lnSpc>
              <a:buNone/>
            </a:pPr>
            <a:r>
              <a:rPr lang="en-US" sz="8250" b="1" dirty="0">
                <a:solidFill>
                  <a:srgbClr val="5E98F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</a:t>
            </a:r>
            <a:pPr algn="ctr" indent="0" marL="0">
              <a:lnSpc>
                <a:spcPts val="10300"/>
              </a:lnSpc>
              <a:buNone/>
            </a:pPr>
            <a:r>
              <a:rPr lang="en-US" sz="82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EE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523875" y="3903166"/>
            <a:ext cx="4667250" cy="436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750" dirty="0">
                <a:solidFill>
                  <a:srgbClr val="CCCC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Bobes Paul-Andrei &amp; Vlad Andreea-Maria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459111" y="4390802"/>
            <a:ext cx="2796778" cy="3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CCCC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conf. dr. ing. Morariu Daniel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8421" y="431304"/>
            <a:ext cx="4736157" cy="602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Unde a început totul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918421" y="1351062"/>
            <a:ext cx="2197522" cy="87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RGBeep – Proiectul inițial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18421" y="2351708"/>
            <a:ext cx="2197522" cy="1599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Un prototip simplu bazat pe Arduino Uno, conceput ca sistem static de asistență pentru parcare. feedback Audio-vizual minimal, construit cu buget redus și componentă educațională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18421" y="4065017"/>
            <a:ext cx="219752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Scop: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4444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Demonstrație de concept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,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învățare embedded systems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61820" y="1351062"/>
            <a:ext cx="2197522" cy="873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Curiozitate + Experimentare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6461820" y="2351708"/>
            <a:ext cx="219752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transformarea unei idei simple într-un proiect memorabil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61820" y="2998812"/>
            <a:ext cx="219752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Lecția: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5E98F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Nu ai nevoie de buget mare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ca să faci inginerie autentică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121" y="486445"/>
            <a:ext cx="4574902" cy="5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Ce este RGBee?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4121" y="1343174"/>
            <a:ext cx="223160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Platformă robotică modulară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64121" y="2217390"/>
            <a:ext cx="2231603" cy="132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Sistem embedded integrat cu control wireless și feedback senzorial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3024039" y="1343174"/>
            <a:ext cx="2231603" cy="414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Control web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024039" y="1803053"/>
            <a:ext cx="2231603" cy="1326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Interfață browser-based, ESP32 în ACCESS-POINT mode pentru conectivitate instantă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464121" y="3828306"/>
            <a:ext cx="478675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Detectare obstacole:</a:t>
            </a:r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senzor ultrasonic cu logică de asistență la parcare progresivă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6109" y="368350"/>
            <a:ext cx="4491707" cy="56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Arhitectura sistemului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1417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1 - Control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1417" y="2061939"/>
            <a:ext cx="1617018" cy="162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Interfața web pe browser / smartphone transmite comenzi prin WiFi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2800796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2 - Procesare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800796" y="2061939"/>
            <a:ext cx="1617018" cy="1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ESP32 primește comenzile, procesează logica și decide acțiunile pentru mișcare și senzori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4740176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3 - Execuție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4740176" y="2061939"/>
            <a:ext cx="1617018" cy="162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Motor driver L298N controlează motoarele DC pentru deplasare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679555" y="1204392"/>
            <a:ext cx="1617018" cy="81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9D933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Etapa 4 - Feedback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679555" y="2061939"/>
            <a:ext cx="1617018" cy="2603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Senzor ultrasonic HC-SR04 măsoară distanța, ESP32 procesează rezultatul, iar buzzerul oferă feedback audio progresiv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459284"/>
            <a:ext cx="4990802" cy="623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Provocări inginerești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506313" y="1354336"/>
            <a:ext cx="8131373" cy="650900"/>
          </a:xfrm>
          <a:prstGeom prst="roundRect">
            <a:avLst>
              <a:gd name="adj" fmla="val 9334"/>
            </a:avLst>
          </a:prstGeom>
          <a:solidFill>
            <a:srgbClr val="4B3F0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974" y="1531441"/>
            <a:ext cx="271239" cy="2169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874" y="1526084"/>
            <a:ext cx="7389168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D7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Cea mai dificilă parte nu a fost codarea</a:t>
            </a:r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– </a:t>
            </a:r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integrarea hardware/software a fost adevărata provocare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06313" y="2157785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263" y="2157785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727174" y="2321496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Integrare mecanică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7174" y="264698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Montarea electronicii în platformă LEGO – echilibru, centru de greutate, accesibilitate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639791" y="2157785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0741" y="2157785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4860652" y="2321496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Gestiune baterie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60652" y="264698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Power delivery stabil pentru ESP32, motoare și senzori simultan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6313" y="3488754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263" y="3488754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727174" y="3652465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Latență și răspuns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27174" y="397795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Optimizare comunicație WiFi și logică real-time pentru control fluid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639791" y="3488754"/>
            <a:ext cx="3997896" cy="1195388"/>
          </a:xfrm>
          <a:prstGeom prst="roundRect">
            <a:avLst>
              <a:gd name="adj" fmla="val 7649"/>
            </a:avLst>
          </a:prstGeom>
          <a:solidFill>
            <a:srgbClr val="0A0E27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0741" y="3488754"/>
            <a:ext cx="76200" cy="1195388"/>
          </a:xfrm>
          <a:prstGeom prst="roundRect">
            <a:avLst>
              <a:gd name="adj" fmla="val 79735"/>
            </a:avLst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4860652" y="3652465"/>
            <a:ext cx="2169914" cy="271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sistem ROBUST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860652" y="3977953"/>
            <a:ext cx="3613324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Conexiuni sigure, protecție la scurtcircuit, toleranță la erori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5313" y="427583"/>
            <a:ext cx="4702373" cy="12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Partea distractivă a ingineriei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3935313" y="1878583"/>
            <a:ext cx="3616523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</a:t>
            </a:r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</a:t>
            </a:r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INFOTAINMENT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935313" y="2399184"/>
            <a:ext cx="4339456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</a:t>
            </a:r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Interacțiune umană memorabilă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935313" y="2919785"/>
            <a:ext cx="3835078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</a:t>
            </a:r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Proiect care inspire pasiune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935313" y="3440385"/>
            <a:ext cx="3616523" cy="46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✔️</a:t>
            </a:r>
            <a:pPr algn="l" indent="0" marL="0">
              <a:lnSpc>
                <a:spcPts val="3550"/>
              </a:lnSpc>
              <a:buNone/>
            </a:pPr>
            <a:r>
              <a:rPr lang="en-US" sz="2800" dirty="0">
                <a:solidFill>
                  <a:srgbClr val="E6E6E6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INGINERIE + creativitate</a:t>
            </a:r>
            <a:endParaRPr lang="en-US" sz="2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5313" y="4110112"/>
            <a:ext cx="361652" cy="3616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6481" y="4173364"/>
            <a:ext cx="4171206" cy="54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AFCBF8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Inovație umanizată: Tehnologie care aduce zâmbetul – inginerie cu suflet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3445" y="384870"/>
            <a:ext cx="4075807" cy="509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CEC99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TO BE CONTINUED…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13445" y="1029965"/>
            <a:ext cx="4888111" cy="1357759"/>
          </a:xfrm>
          <a:prstGeom prst="roundRect">
            <a:avLst>
              <a:gd name="adj" fmla="val 3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6302" y="1152823"/>
            <a:ext cx="23627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4444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Îmbunătățiri planificate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36302" y="1502346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Parcare autonomă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36302" y="1526604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6302" y="1700882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Integrare cameră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36302" y="1725141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302" y="1899419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Telemetrie în cloud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6302" y="1923678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6302" y="2097956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Mapping obstacole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302" y="2122215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3445" y="2478137"/>
            <a:ext cx="4888111" cy="960686"/>
          </a:xfrm>
          <a:prstGeom prst="roundRect">
            <a:avLst>
              <a:gd name="adj" fmla="val 51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6302" y="2600995"/>
            <a:ext cx="23627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CC97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Aplicații educaționale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36302" y="2950518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Simulator parcare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6302" y="2974777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6302" y="3149054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Robotică accesibilă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6302" y="3173313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3445" y="3529236"/>
            <a:ext cx="4888111" cy="960686"/>
          </a:xfrm>
          <a:prstGeom prst="roundRect">
            <a:avLst>
              <a:gd name="adj" fmla="val 51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6302" y="3652093"/>
            <a:ext cx="236279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5E98F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Procesul de învățare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536302" y="4001616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Prototipare rapidă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6302" y="4025875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6302" y="4200153"/>
            <a:ext cx="4642396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300"/>
              </a:lnSpc>
              <a:buSzPct val="100000"/>
              <a:buChar char="​"/>
            </a:pPr>
            <a:r>
              <a:rPr lang="en-US" sz="900" dirty="0">
                <a:solidFill>
                  <a:srgbClr val="204C8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Experimentare iterativă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6302" y="4224412"/>
            <a:ext cx="118095" cy="118095"/>
          </a:xfrm>
          <a:prstGeom prst="roundRect">
            <a:avLst>
              <a:gd name="adj" fmla="val 42016"/>
            </a:avLst>
          </a:prstGeom>
          <a:noFill/>
          <a:ln w="14288">
            <a:solidFill>
              <a:srgbClr val="8F93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3445" y="4591645"/>
            <a:ext cx="4888111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2026-05-07T10:21:44Z</dcterms:created>
  <dcterms:modified xsi:type="dcterms:W3CDTF">2026-05-07T10:21:44Z</dcterms:modified>
</cp:coreProperties>
</file>